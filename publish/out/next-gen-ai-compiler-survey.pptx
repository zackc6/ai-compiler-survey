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Digests</c:v>
                </c:pt>
              </c:strCache>
            </c:strRef>
          </c:tx>
          <c:spPr>
            <a:solidFill>
              <a:srgbClr val="1F5C56"/>
            </a:solidFill>
          </c:spPr>
          <c:cat>
            <c:strRef>
              <c:f>Sheet1!$A$2:$A$9</c:f>
              <c:strCache>
                <c:ptCount val="8"/>
                <c:pt idx="0">
                  <c:v>GPU kernels</c:v>
                </c:pt>
                <c:pt idx="1">
                  <c:v>Agentic / RL</c:v>
                </c:pt>
                <c:pt idx="2">
                  <c:v>SCM / review</c:v>
                </c:pt>
                <c:pt idx="3">
                  <c:v>Company infra</c:v>
                </c:pt>
                <c:pt idx="4">
                  <c:v>Classic DL</c:v>
                </c:pt>
                <c:pt idx="5">
                  <c:v>Foundation LLMs</c:v>
                </c:pt>
                <c:pt idx="6">
                  <c:v>Forums</c:v>
                </c:pt>
                <c:pt idx="7">
                  <c:v>HW codesign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</c:v>
                </c:pt>
                <c:pt idx="1">
                  <c:v>13</c:v>
                </c:pt>
                <c:pt idx="2">
                  <c:v>13</c:v>
                </c:pt>
                <c:pt idx="3">
                  <c:v>10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Claims</c:v>
                </c:pt>
              </c:strCache>
            </c:strRef>
          </c:tx>
          <c:spPr>
            <a:solidFill>
              <a:srgbClr val="1F5C56"/>
            </a:solidFill>
          </c:spPr>
          <c:cat>
            <c:strRef>
              <c:f>Sheet1!$A$2:$A$4</c:f>
              <c:strCache>
                <c:ptCount val="3"/>
                <c:pt idx="0">
                  <c:v>Supported</c:v>
                </c:pt>
                <c:pt idx="1">
                  <c:v>Contested</c:v>
                </c:pt>
                <c:pt idx="2">
                  <c:v>Watch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4A24"/>
                </a:solidFill>
                <a:latin typeface="Inter"/>
              </a:rPr>
              <a:t>LIVING SURVEY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erif"/>
              </a:rPr>
              <a:t>The next compiler
is agentic — not replaced.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3BA"/>
                </a:solidFill>
                <a:latin typeface="Inter"/>
              </a:rPr>
              <a:t>A prediction for ~2027–28 and the next five years:
how agents reshape the AI compiler stack and HW–SW codesign.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65E"/>
                </a:solidFill>
                <a:latin typeface="Inter"/>
              </a:rPr>
              <a:t>Generated 2026-08-03  ·  From docs/SURVEY · ROADMAP · STACK · CLAIMS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01  —  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161C"/>
                </a:solidFill>
                <a:latin typeface="Noto Serif"/>
              </a:rPr>
              <a:t>Agents search. Compilers decide.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A665E"/>
                </a:solidFill>
                <a:latin typeface="Inter"/>
              </a:rPr>
              <a:t>The winning pattern across ACCLAIM, HintPilot, AgentCompile, Magellan, TritorX, and GEAK is hybrid: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5212080" cy="274320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834640"/>
            <a:ext cx="5212080" cy="2743200"/>
          </a:xfrm>
          <a:prstGeom prst="roundRect">
            <a:avLst>
              <a:gd name="adj" fmla="val 8000"/>
            </a:avLst>
          </a:prstGeom>
          <a:solidFill>
            <a:srgbClr val="F6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5C56"/>
                </a:solidFill>
                <a:latin typeface="Inter"/>
              </a:rPr>
              <a:t>Agents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semantic search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orchestration &amp; budgets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artifact synthesis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bring-up coverage loops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1089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4A24"/>
                </a:solidFill>
                <a:latin typeface="Inter"/>
              </a:rPr>
              <a:t>Compilers 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56616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lowering &amp; legality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measurement oracles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admit / fallback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2161C"/>
                </a:solidFill>
                <a:latin typeface="Noto Serif"/>
              </a:rPr>
              <a:t>deterministic defaults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02  —  HARD 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161C"/>
                </a:solidFill>
                <a:latin typeface="Noto Serif"/>
              </a:rPr>
              <a:t>Free-form IR rewrite
keeps losing.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004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3566160" cy="73152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mlirAgent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Frontier models scored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below identity on IR transforms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2004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3200400"/>
            <a:ext cx="3566160" cy="7315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HintPilot / AgentCompile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Succeed by constraining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actions to hints &amp; templates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32004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3200400"/>
            <a:ext cx="3566160" cy="7315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ACCLAIM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11480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Best when compiler tools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and tests remain admit gates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03  —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Three planes, one contract.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9418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146304" cy="1417320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Control plane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4630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A665E"/>
                </a:solidFill>
                <a:latin typeface="Inter"/>
              </a:rPr>
              <a:t>Propose · measure · admit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A665E"/>
                </a:solidFill>
                <a:latin typeface="Inter"/>
              </a:rPr>
              <a:t>Four agent jobs (a–d)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9418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2926080"/>
            <a:ext cx="146304" cy="1417320"/>
          </a:xfrm>
          <a:prstGeom prst="rect">
            <a:avLst/>
          </a:prstGeom>
          <a:solidFill>
            <a:srgbClr val="121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154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Data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20040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A665E"/>
                </a:solidFill>
                <a:latin typeface="Inter"/>
              </a:rPr>
              <a:t>Lower · verify · fallback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A665E"/>
                </a:solidFill>
                <a:latin typeface="Inter"/>
              </a:rPr>
              <a:t>Inductor / MLIR / Triton / Tile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4663440"/>
            <a:ext cx="9418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4663440"/>
            <a:ext cx="146304" cy="1417320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4892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Codesign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937759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A665E"/>
                </a:solidFill>
                <a:latin typeface="Inter"/>
              </a:rPr>
              <a:t>Sim + silicon traces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A665E"/>
                </a:solidFill>
                <a:latin typeface="Inter"/>
              </a:rPr>
              <a:t>→ ISA / dialect RFCs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04  —  FOUR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What agents actually do in compilers.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6235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691640"/>
            <a:ext cx="502920" cy="502920"/>
          </a:xfrm>
          <a:prstGeom prst="ellipse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733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Online specialize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574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54A24"/>
                </a:solidFill>
                <a:latin typeface="Inter"/>
              </a:rPr>
              <a:t>At compile / serve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Hints, ACFs, Triton kernels,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pass lists for this workload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CompileIQ · GEAK · AutoKernel · ACCLAIM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6235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1691640"/>
            <a:ext cx="502920" cy="502920"/>
          </a:xfrm>
          <a:prstGeom prst="ellipse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6733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Offline evolve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0574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54A24"/>
                </a:solidFill>
                <a:latin typeface="Inter"/>
              </a:rPr>
              <a:t>Compiler engineering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688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Readable C++ heuristics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and MLGO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546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Magellan · AlphaEvolve · OpenEvolve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49039"/>
            <a:ext cx="56235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050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Oracle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389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54A24"/>
                </a:solidFill>
                <a:latin typeface="Inter"/>
              </a:rPr>
              <a:t>PR / change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006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Alive2 / opt-gated agents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beat generic chat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Archer · LLVM agent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49039"/>
            <a:ext cx="56235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4023359"/>
            <a:ext cx="502920" cy="502920"/>
          </a:xfrm>
          <a:prstGeom prst="ellipse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0050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Bring-up / codesign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389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54A24"/>
                </a:solidFill>
                <a:latin typeface="Inter"/>
              </a:rPr>
              <a:t>New ASIC / NPU TTM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8006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Coverage then perf 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A2824"/>
                </a:solidFill>
                <a:latin typeface="Inter"/>
              </a:rPr>
              <a:t>sim + silicon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486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TritorX · KernelEvolve · Ascend diag.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05  —  HOW WE GOT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From autotune gyms to agent loops.</a:t>
            </a:r>
          </a:p>
        </p:txBody>
      </p:sp>
      <p:sp>
        <p:nvSpPr>
          <p:cNvPr id="5" name="Oval 4"/>
          <p:cNvSpPr/>
          <p:nvPr/>
        </p:nvSpPr>
        <p:spPr>
          <a:xfrm>
            <a:off x="1737360" y="1828800"/>
            <a:ext cx="256032" cy="256032"/>
          </a:xfrm>
          <a:prstGeom prst="ellipse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93391" y="1920240"/>
            <a:ext cx="2651760" cy="36576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4A24"/>
                </a:solidFill>
                <a:latin typeface="Inter"/>
              </a:rPr>
              <a:t>2018–22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DL compilers mature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665E"/>
                </a:solidFill>
                <a:latin typeface="Inter"/>
              </a:rPr>
              <a:t>TVM, Ansor, XLA, MLIR</a:t>
            </a:r>
          </a:p>
        </p:txBody>
      </p:sp>
      <p:sp>
        <p:nvSpPr>
          <p:cNvPr id="10" name="Oval 9"/>
          <p:cNvSpPr/>
          <p:nvPr/>
        </p:nvSpPr>
        <p:spPr>
          <a:xfrm>
            <a:off x="4617720" y="1828800"/>
            <a:ext cx="256032" cy="256032"/>
          </a:xfrm>
          <a:prstGeom prst="ellipse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3752" y="1920240"/>
            <a:ext cx="2651760" cy="36576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39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4A24"/>
                </a:solidFill>
                <a:latin typeface="Inter"/>
              </a:rPr>
              <a:t>2020–23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26974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RL for compilers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3383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665E"/>
                </a:solidFill>
                <a:latin typeface="Inter"/>
              </a:rPr>
              <a:t>CompilerGym, MLGO advisors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79" y="1828800"/>
            <a:ext cx="256032" cy="256032"/>
          </a:xfrm>
          <a:prstGeom prst="ellipse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54112" y="1920240"/>
            <a:ext cx="2651760" cy="36576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4A24"/>
                </a:solidFill>
                <a:latin typeface="Inter"/>
              </a:rPr>
              <a:t>2023–24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LLMs enter 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83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665E"/>
                </a:solidFill>
                <a:latin typeface="Inter"/>
              </a:rPr>
              <a:t>Pass lists, Meta LLM Compiler</a:t>
            </a:r>
          </a:p>
        </p:txBody>
      </p:sp>
      <p:sp>
        <p:nvSpPr>
          <p:cNvPr id="20" name="Oval 19"/>
          <p:cNvSpPr/>
          <p:nvPr/>
        </p:nvSpPr>
        <p:spPr>
          <a:xfrm>
            <a:off x="10378439" y="1828800"/>
            <a:ext cx="256032" cy="256032"/>
          </a:xfrm>
          <a:prstGeom prst="ellipse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59" y="2286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4A24"/>
                </a:solidFill>
                <a:latin typeface="Inter"/>
              </a:rPr>
              <a:t>2025–26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59" y="26974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Agentic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59" y="3383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665E"/>
                </a:solidFill>
                <a:latin typeface="Inter"/>
              </a:rPr>
              <a:t>Kernels, heuristics, bring-up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572000"/>
            <a:ext cx="10972800" cy="137160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9204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161C"/>
                </a:solidFill>
                <a:latin typeface="Inter"/>
              </a:rPr>
              <a:t>Insight: each era kept the data plane and moved intelligence into a better control interface —
cost models → RL policies → foundation LLMs → tool-using agents with oracles.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06  —  IDEAS THE SURVEY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Six ideas worth stealing.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Constrained action 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Hints, templates, EVOLVE-blocks, ACF knobs — not free codegen.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Admit gates as 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Tests, Alive2, OpInfo, profilers are the compiler’s API to agents.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41732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Artifacts over binaries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ACFs, heuristics, memories, bring-up corpora belong in VCS.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0332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023359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Coverage → perf ladder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7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TritorX then KernelEvolve: new silicon needs ops before peak.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0332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023359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Negative results are Tier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75487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mlirAgent’s below-identity bound shapes the architecture.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0332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023359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Conflicts are load-bearing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75487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Magellan vs MLGO, vendor vs KernelBench-X — keep both sides.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07  —  STACK RESHAPE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Where the agentic compiler presses.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490472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0" y="1490472"/>
            <a:ext cx="4160520" cy="25603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4173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Amdahl-rank hot regions; write kernels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842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Kernel DSL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057400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2057400"/>
            <a:ext cx="5349240" cy="256032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198424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Triton / Helion / Tile become agent surfaces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1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Portable 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624328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2624328"/>
            <a:ext cx="3566160" cy="25603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55117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Fingerprints + tools; free rewrite fails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1810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Mid / back 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3191256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3191256"/>
            <a:ext cx="4754880" cy="25603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3118104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Heuristics, passes, ACFs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850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Oracles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3758184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3758184"/>
            <a:ext cx="5349240" cy="256032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36850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Admit gates &amp; rewards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Artifacts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4325112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4325112"/>
            <a:ext cx="4754880" cy="25603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42519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First-class in CI /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18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Serving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0" y="4892040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0" y="4892040"/>
            <a:ext cx="4160520" cy="25603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0" y="481888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Specialize without breaking graphs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8581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161C"/>
                </a:solidFill>
                <a:latin typeface="Inter"/>
              </a:rPr>
              <a:t>Silicon / sim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5458968"/>
            <a:ext cx="5943600" cy="256032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0" y="5458968"/>
            <a:ext cx="4754880" cy="256032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538581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65E"/>
                </a:solidFill>
                <a:latin typeface="Inter"/>
              </a:rPr>
              <a:t>Bring-up + ISA feedback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08  —  PRODUCTIVE DISAGREEMENTS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Do not average these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665E"/>
                </a:solidFill>
                <a:latin typeface="Inter"/>
              </a:rPr>
              <a:t>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665E"/>
                </a:solidFill>
                <a:latin typeface="Inter"/>
              </a:rPr>
              <a:t>Claim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665E"/>
                </a:solidFill>
                <a:latin typeface="Inter"/>
              </a:rPr>
              <a:t>Claim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665E"/>
                </a:solidFill>
                <a:latin typeface="Inter"/>
              </a:rPr>
              <a:t>Stance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10972800" cy="18288"/>
          </a:xfrm>
          <a:prstGeom prst="rect">
            <a:avLst/>
          </a:prstGeom>
          <a:solidFill>
            <a:srgbClr val="D9D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920240"/>
            <a:ext cx="10972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03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4A24"/>
                </a:solidFill>
                <a:latin typeface="Inter"/>
              </a:rPr>
              <a:t>C1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Magellan heuristics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MLGO neural advisors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56"/>
                </a:solidFill>
                <a:latin typeface="Inter"/>
              </a:rPr>
              <a:t>Parallel production bets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97480"/>
            <a:ext cx="10972800" cy="68580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4A24"/>
                </a:solidFill>
                <a:latin typeface="Inter"/>
              </a:rPr>
              <a:t>C2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Vendor speedup headlines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KernelBench-X ceilings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880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56"/>
                </a:solidFill>
                <a:latin typeface="Inter"/>
              </a:rPr>
              <a:t>Need p50/p90 traces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74720"/>
            <a:ext cx="10972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4A24"/>
                </a:solidFill>
                <a:latin typeface="Inter"/>
              </a:rPr>
              <a:t>C3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Wide rewrite APIs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Narrow advisory APIs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657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56"/>
                </a:solidFill>
                <a:latin typeface="Inter"/>
              </a:rPr>
              <a:t>Oracles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10972800" cy="68580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4A24"/>
                </a:solidFill>
                <a:latin typeface="Inter"/>
              </a:rPr>
              <a:t>C9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Coverage-first bring-up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434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Peak-perf kernel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4434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56"/>
                </a:solidFill>
                <a:latin typeface="Inter"/>
              </a:rPr>
              <a:t>Ladder, not either/or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72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4A24"/>
                </a:solidFill>
                <a:latin typeface="Inter"/>
              </a:rPr>
              <a:t>C10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212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Autonomous chip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5212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161C"/>
                </a:solidFill>
                <a:latin typeface="Inter"/>
              </a:rPr>
              <a:t>Compiler codesign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12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C56"/>
                </a:solidFill>
                <a:latin typeface="Inter"/>
              </a:rPr>
              <a:t>We bet on feedback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09  —  HW–SW CODESIGN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Still an agentic-compiler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665E"/>
                </a:solidFill>
                <a:latin typeface="Inter"/>
              </a:rPr>
              <a:t>Custom ASICs win or lose on operator coverage × generations × devices. Agents eat that matrix.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148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2148840" cy="91440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61C"/>
                </a:solidFill>
                <a:latin typeface="Noto Serif"/>
              </a:rPr>
              <a:t>1. Spec / 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Draft ISA +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future-device sim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A665E"/>
                </a:solidFill>
                <a:latin typeface="Inter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2286000"/>
            <a:ext cx="2148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2286000"/>
            <a:ext cx="2148840" cy="91440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799" y="260604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61C"/>
                </a:solidFill>
                <a:latin typeface="Noto Serif"/>
              </a:rPr>
              <a:t>2.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799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TritorX-class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ATen / OpInfo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A665E"/>
                </a:solidFill>
                <a:latin typeface="Inter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2286000"/>
            <a:ext cx="2148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2286000"/>
            <a:ext cx="2148840" cy="91440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260604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61C"/>
                </a:solidFill>
                <a:latin typeface="Noto Serif"/>
              </a:rPr>
              <a:t>3. Perf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KernelEvolve /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profile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A665E"/>
                </a:solidFill>
                <a:latin typeface="Inter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2286000"/>
            <a:ext cx="2148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286000"/>
            <a:ext cx="2148840" cy="91440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260604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61C"/>
                </a:solidFill>
                <a:latin typeface="Noto Serif"/>
              </a:rPr>
              <a:t>4. Serve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e2e latency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&amp; TCO gates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A665E"/>
                </a:solidFill>
                <a:latin typeface="Inter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286000"/>
            <a:ext cx="2148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2286000"/>
            <a:ext cx="2148840" cy="91440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60604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161C"/>
                </a:solidFill>
                <a:latin typeface="Noto Serif"/>
              </a:rPr>
              <a:t>5. Feedback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Traces → 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A665E"/>
                </a:solidFill>
                <a:latin typeface="Inter"/>
              </a:rPr>
              <a:t>ISA / dialect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937760"/>
            <a:ext cx="10972800" cy="1097280"/>
          </a:xfrm>
          <a:prstGeom prst="roundRect">
            <a:avLst>
              <a:gd name="adj" fmla="val 8000"/>
            </a:avLst>
          </a:prstGeom>
          <a:solidFill>
            <a:srgbClr val="F6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120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161C"/>
                </a:solidFill>
                <a:latin typeface="Inter"/>
              </a:rPr>
              <a:t>Non-goal: autonomous tape-out. Agents stress compilers and file ISA pain; humans + EDA own silicon.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10  —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What ships — and what does not.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486400" cy="502920"/>
          </a:xfrm>
          <a:prstGeom prst="rect">
            <a:avLst/>
          </a:prstGeom>
          <a:solidFill>
            <a:srgbClr val="1F5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2027–28  ·  likely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Agent-addressable tool APIs in major stacks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CI-gated specialize on hot kernels / apps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Magellan-class and MLGO both still live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Oracle PR review in serious compiler orgs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Coverage→perf bring-up on new ASICs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Triton-family still primary agent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48640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71600"/>
            <a:ext cx="5486400" cy="502920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Not soon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LLM replaces opt / Inductor end-to-end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One universal agent IR for all vendors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Uniform wins on fusion-heavy public ladders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Agents autonomously design microarchitecture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Generic SCM chat as compiler evidence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A2824"/>
                </a:solidFill>
                <a:latin typeface="Inter"/>
              </a:rPr>
              <a:t>Silent default agents without distributions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11  —  EVIDENCE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A living bibliography, not a catalog.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6858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645920"/>
            <a:ext cx="41148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161C"/>
                </a:solidFill>
                <a:latin typeface="Noto Serif"/>
              </a:rPr>
              <a:t>How to read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468880"/>
            <a:ext cx="3657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★ digests drive ROADMAP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Tier A reshapes compile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Tier B is substrate only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Tier C is demoted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Conflicts beat false consensus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6A665E"/>
                </a:solidFill>
                <a:latin typeface="Inter"/>
              </a:rPr>
              <a:t>Mechanisms &gt; headline 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12  —  CLAIM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What we believe — for now.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463040"/>
          <a:ext cx="71323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55279" y="1645920"/>
            <a:ext cx="3749039" cy="4114800"/>
          </a:xfrm>
          <a:prstGeom prst="roundRect">
            <a:avLst>
              <a:gd name="adj" fmla="val 8000"/>
            </a:avLst>
          </a:prstGeom>
          <a:solidFill>
            <a:srgbClr val="F6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20116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4A24"/>
                </a:solidFill>
                <a:latin typeface="Inter"/>
              </a:rPr>
              <a:t>Still contested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56032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0">
                <a:solidFill>
                  <a:srgbClr val="12161C"/>
                </a:solidFill>
                <a:latin typeface="Inter"/>
              </a:rPr>
              <a:t>A4 — defaults stay classical until distributional CI wins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2161C"/>
                </a:solidFill>
                <a:latin typeface="Inter"/>
              </a:rPr>
              <a:t>P1 — Magellan vs MLGO path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2161C"/>
                </a:solidFill>
                <a:latin typeface="Inter"/>
              </a:rPr>
              <a:t>P2 / S5 — multi-DSL skills &amp; profiler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4A24"/>
                </a:solidFill>
                <a:latin typeface="Inter"/>
              </a:rPr>
              <a:t>13  —  IF YOU ADOPT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2161C"/>
                </a:solidFill>
                <a:latin typeface="Noto Serif"/>
              </a:rPr>
              <a:t>Questions before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4A24"/>
                </a:solidFill>
                <a:latin typeface="Noto Serif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54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Online or offline first?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665E"/>
                </a:solidFill>
                <a:latin typeface="Inter"/>
              </a:rPr>
              <a:t>Specialize workloads, or evolve the compiler once?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4A24"/>
                </a:solidFill>
                <a:latin typeface="Noto Serif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51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What is the oracle?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063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665E"/>
                </a:solidFill>
                <a:latin typeface="Inter"/>
              </a:rPr>
              <a:t>Alive2, golden kernels, OpInfo, serving A/B — who owns false negatives?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4A24"/>
                </a:solidFill>
                <a:latin typeface="Noto Serif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490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Which agent contract IR?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1605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665E"/>
                </a:solidFill>
                <a:latin typeface="Inter"/>
              </a:rPr>
              <a:t>LLVM, MLIR, Triton, StableHLO, Tile — pick intentionally.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4A24"/>
                </a:solidFill>
                <a:latin typeface="Noto Serif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846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2161C"/>
                </a:solidFill>
                <a:latin typeface="Noto Serif"/>
              </a:rPr>
              <a:t>Who owns agent artifacts?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665E"/>
                </a:solidFill>
                <a:latin typeface="Inter"/>
              </a:rPr>
              <a:t>Named maintainer six months after merge.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665E"/>
                </a:solidFill>
                <a:latin typeface="Inter"/>
              </a:rPr>
              <a:t>Next-Gen AI Compiler Survey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922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665E"/>
                </a:solidFill>
                <a:latin typeface="Inter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54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4A24"/>
                </a:solidFill>
                <a:latin typeface="Inter"/>
              </a:rPr>
              <a:t>ONE-PAGE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erif"/>
              </a:rPr>
              <a:t>Predict the architecture.
Name the four jobs.
Separate signal from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C8C3BA"/>
                </a:solidFill>
                <a:latin typeface="Inter"/>
              </a:rPr>
              <a:t>Architecture → hybrid control / data / codesign feedback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C8C3BA"/>
                </a:solidFill>
                <a:latin typeface="Inter"/>
              </a:rPr>
              <a:t>Jobs → online · offline · oracle review · bring-up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C8C3BA"/>
                </a:solidFill>
                <a:latin typeface="Inter"/>
              </a:rPr>
              <a:t>Signal → Tier A + CONFLICTS settlement watches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65E"/>
                </a:solidFill>
                <a:latin typeface="Inter"/>
              </a:rPr>
              <a:t>Rebuild:  python3 publish/build_pptx.py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