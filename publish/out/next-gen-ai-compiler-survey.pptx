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Agent/LLM role intensity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Sheet1!$A$2:$A$7</c:f>
              <c:strCache>
                <c:ptCount val="6"/>
                <c:pt idx="0">
                  <c:v>2018–22
DL compilers</c:v>
                </c:pt>
                <c:pt idx="1">
                  <c:v>2020–23
MLGO / RL gyms</c:v>
                </c:pt>
                <c:pt idx="2">
                  <c:v>2023–24
LLM on IR</c:v>
                </c:pt>
                <c:pt idx="3">
                  <c:v>2025–26
Agentic hybrid</c:v>
                </c:pt>
                <c:pt idx="4">
                  <c:v>2027–28
CI-gated agents</c:v>
                </c:pt>
                <c:pt idx="5">
                  <c:v>2029–31
Multi-HW default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Jobs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Sheet1!$A$2:$A$5</c:f>
              <c:strCache>
                <c:ptCount val="4"/>
                <c:pt idx="0">
                  <c:v>(a) Online specialize</c:v>
                </c:pt>
                <c:pt idx="1">
                  <c:v>(b) Offline heuristics</c:v>
                </c:pt>
                <c:pt idx="2">
                  <c:v>(c) Oracle review</c:v>
                </c:pt>
                <c:pt idx="3">
                  <c:v>(d) Bring-up / codesign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</c:v>
                </c:pt>
                <c:pt idx="1">
                  <c:v>22</c:v>
                </c:pt>
                <c:pt idx="2">
                  <c:v>16</c:v>
                </c:pt>
                <c:pt idx="3">
                  <c:v>28</c:v>
                </c:pt>
              </c:numCache>
            </c:numRef>
          </c:val>
        </c:ser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Role weight in prediction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Sheet1!$A$2:$A$4</c:f>
              <c:strCache>
                <c:ptCount val="3"/>
                <c:pt idx="0">
                  <c:v>Tier A
reshape compile</c:v>
                </c:pt>
                <c:pt idx="1">
                  <c:v>Tier B
substrate</c:v>
                </c:pt>
                <c:pt idx="2">
                  <c:v>Tier C
delivery 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25</c:v>
                </c:pt>
                <c:pt idx="2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Supported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Sheet1!$A$2:$A$4</c:f>
              <c:strCache>
                <c:ptCount val="3"/>
                <c:pt idx="0">
                  <c:v>Architecture (A*)</c:v>
                </c:pt>
                <c:pt idx="1">
                  <c:v>Process/Stack (P*/S*)</c:v>
                </c:pt>
                <c:pt idx="2">
                  <c:v>Codesign (H*)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Contested</c:v>
                </c:pt>
              </c:strCache>
            </c:strRef>
          </c:tx>
          <c:spPr>
            <a:solidFill>
              <a:srgbClr val="C47B2C"/>
            </a:solidFill>
          </c:spPr>
          <c:cat>
            <c:strRef>
              <c:f>Sheet1!$A$2:$A$4</c:f>
              <c:strCache>
                <c:ptCount val="3"/>
                <c:pt idx="0">
                  <c:v>Architecture (A*)</c:v>
                </c:pt>
                <c:pt idx="1">
                  <c:v>Process/Stack (P*/S*)</c:v>
                </c:pt>
                <c:pt idx="2">
                  <c:v>Codesign (H*)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Watch</c:v>
                </c:pt>
              </c:strCache>
            </c:strRef>
          </c:tx>
          <c:spPr>
            <a:solidFill>
              <a:srgbClr val="2F5D8C"/>
            </a:solidFill>
          </c:spPr>
          <c:cat>
            <c:strRef>
              <c:f>Sheet1!$A$2:$A$4</c:f>
              <c:strCache>
                <c:ptCount val="3"/>
                <c:pt idx="0">
                  <c:v>Architecture (A*)</c:v>
                </c:pt>
                <c:pt idx="1">
                  <c:v>Process/Stack (P*/S*)</c:v>
                </c:pt>
                <c:pt idx="2">
                  <c:v>Codesign (H*)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Settlement urgency (1–5)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Sheet1!$A$2:$A$11</c:f>
              <c:strCache>
                <c:ptCount val="10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  <c:pt idx="5">
                  <c:v>C6</c:v>
                </c:pt>
                <c:pt idx="6">
                  <c:v>C7</c:v>
                </c:pt>
                <c:pt idx="7">
                  <c:v>C8</c:v>
                </c:pt>
                <c:pt idx="8">
                  <c:v>C9</c:v>
                </c:pt>
                <c:pt idx="9">
                  <c:v>C10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2</c:v>
                </c:pt>
                <c:pt idx="8">
                  <c:v>5</c:v>
                </c:pt>
                <c:pt idx="9">
                  <c:v>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Agent pressure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Sheet1!$A$2:$A$9</c:f>
              <c:strCache>
                <c:ptCount val="8"/>
                <c:pt idx="0">
                  <c:v>1 Framework</c:v>
                </c:pt>
                <c:pt idx="1">
                  <c:v>2 Kernel DSL</c:v>
                </c:pt>
                <c:pt idx="2">
                  <c:v>3 Portable IR</c:v>
                </c:pt>
                <c:pt idx="3">
                  <c:v>4 Mid/back</c:v>
                </c:pt>
                <c:pt idx="4">
                  <c:v>5 Oracles</c:v>
                </c:pt>
                <c:pt idx="5">
                  <c:v>6 Artifacts</c:v>
                </c:pt>
                <c:pt idx="6">
                  <c:v>7 Serving</c:v>
                </c:pt>
                <c:pt idx="7">
                  <c:v>8 Silicon/sim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</c:v>
                </c:pt>
                <c:pt idx="1">
                  <c:v>9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  <c:pt idx="5">
                  <c:v>8</c:v>
                </c:pt>
                <c:pt idx="6">
                  <c:v>7</c:v>
                </c:pt>
                <c:pt idx="7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Confidence (1–3)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Sheet1!$A$2:$A$8</c:f>
              <c:strCache>
                <c:ptCount val="7"/>
                <c:pt idx="0">
                  <c:v>Default path
stays classical</c:v>
                </c:pt>
                <c:pt idx="1">
                  <c:v>Artifact store
in VCS</c:v>
                </c:pt>
                <c:pt idx="2">
                  <c:v>Hetero serving
via agents</c:v>
                </c:pt>
                <c:pt idx="3">
                  <c:v>HW codesign
feedback loop</c:v>
                </c:pt>
                <c:pt idx="4">
                  <c:v>Verification
compose</c:v>
                </c:pt>
                <c:pt idx="5">
                  <c:v>Humans own
oracles</c:v>
                </c:pt>
                <c:pt idx="6">
                  <c:v>No auto
tape-out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2.5</c:v>
                </c:pt>
                <c:pt idx="1">
                  <c:v>3</c:v>
                </c:pt>
                <c:pt idx="2">
                  <c:v>2.5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Digests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Sheet1!$A$2:$A$13</c:f>
              <c:strCache>
                <c:ptCount val="12"/>
                <c:pt idx="0">
                  <c:v>GPU kernels &amp; inference c…</c:v>
                </c:pt>
                <c:pt idx="1">
                  <c:v>Agentic &amp; RL compilers</c:v>
                </c:pt>
                <c:pt idx="2">
                  <c:v>Source control &amp; review a…</c:v>
                </c:pt>
                <c:pt idx="3">
                  <c:v>Company infra</c:v>
                </c:pt>
                <c:pt idx="4">
                  <c:v>Classic DL compilers</c:v>
                </c:pt>
                <c:pt idx="5">
                  <c:v>Foundation LLMs for compi…</c:v>
                </c:pt>
                <c:pt idx="6">
                  <c:v>Forums &amp; workshops</c:v>
                </c:pt>
                <c:pt idx="7">
                  <c:v>MLGO &amp; RL gyms</c:v>
                </c:pt>
                <c:pt idx="8">
                  <c:v>Surveys &amp; vision</c:v>
                </c:pt>
                <c:pt idx="9">
                  <c:v>HW codesign &amp; accelerator…</c:v>
                </c:pt>
                <c:pt idx="10">
                  <c:v>Commercial products &amp; pro…</c:v>
                </c:pt>
                <c:pt idx="11">
                  <c:v>Correctness lineage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</c:v>
                </c:pt>
                <c:pt idx="1">
                  <c:v>13</c:v>
                </c:pt>
                <c:pt idx="2">
                  <c:v>13</c:v>
                </c:pt>
                <c:pt idx="3">
                  <c:v>10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6</c:v>
                </c:pt>
                <c:pt idx="8">
                  <c:v>4</c:v>
                </c:pt>
                <c:pt idx="9">
                  <c:v>4</c:v>
                </c:pt>
                <c:pt idx="10">
                  <c:v>3</c:v>
                </c:pt>
                <c:pt idx="1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Kind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Sheet1!$A$2:$A$6</c:f>
              <c:strCache>
                <c:ptCount val="5"/>
                <c:pt idx="0">
                  <c:v>paper</c:v>
                </c:pt>
                <c:pt idx="1">
                  <c:v>company</c:v>
                </c:pt>
                <c:pt idx="2">
                  <c:v>code</c:v>
                </c:pt>
                <c:pt idx="3">
                  <c:v>forum</c:v>
                </c:pt>
                <c:pt idx="4">
                  <c:v>talk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23</c:v>
                </c:pt>
                <c:pt idx="2">
                  <c:v>25</c:v>
                </c:pt>
                <c:pt idx="3">
                  <c:v>11</c:v>
                </c:pt>
                <c:pt idx="4">
                  <c:v>1</c:v>
                </c:pt>
              </c:numCache>
            </c:numRef>
          </c:val>
        </c:ser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Digests / year bucket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Sheet1!$A$2:$A$7</c:f>
              <c:strCache>
                <c:ptCount val="6"/>
                <c:pt idx="0">
                  <c:v>≤2022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other/ongoing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3</c:v>
                </c:pt>
                <c:pt idx="2">
                  <c:v>6</c:v>
                </c:pt>
                <c:pt idx="3">
                  <c:v>25</c:v>
                </c:pt>
                <c:pt idx="4">
                  <c:v>39</c:v>
                </c:pt>
                <c:pt idx="5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Reported factor vs baseline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Sheet1!$A$2:$A$8</c:f>
              <c:strCache>
                <c:ptCount val="7"/>
                <c:pt idx="0">
                  <c:v>ACCLAIM
vs -O3</c:v>
                </c:pt>
                <c:pt idx="1">
                  <c:v>AutoKernel
RMSNorm</c:v>
                </c:pt>
                <c:pt idx="2">
                  <c:v>KForge Arc
KB-L2</c:v>
                </c:pt>
                <c:pt idx="3">
                  <c:v>Ascend diag.
geo-mean</c:v>
                </c:pt>
                <c:pt idx="4">
                  <c:v>Helion B200
vs eager</c:v>
                </c:pt>
                <c:pt idx="5">
                  <c:v>CompileIQ
hot kernels</c:v>
                </c:pt>
                <c:pt idx="6">
                  <c:v>CompileIQ
highly tuned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1.25</c:v>
                </c:pt>
                <c:pt idx="1">
                  <c:v>5.29</c:v>
                </c:pt>
                <c:pt idx="2">
                  <c:v>5.13</c:v>
                </c:pt>
                <c:pt idx="3">
                  <c:v>4.35</c:v>
                </c:pt>
                <c:pt idx="4">
                  <c:v>3.27</c:v>
                </c:pt>
                <c:pt idx="5">
                  <c:v>1.15</c:v>
                </c:pt>
                <c:pt idx="6">
                  <c:v>1.025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 (a)</c:v>
                </c:pt>
              </c:strCache>
            </c:strRef>
          </c:tx>
          <c:spPr>
            <a:solidFill>
              <a:srgbClr val="0F6E6E"/>
            </a:solidFill>
          </c:spPr>
          <c:cat>
            <c:strRef>
              <c:f>Sheet1!$A$2:$A$7</c:f>
              <c:strCache>
                <c:ptCount val="6"/>
                <c:pt idx="0">
                  <c:v>Latency sensitivity</c:v>
                </c:pt>
                <c:pt idx="1">
                  <c:v>Ship as C++/ACF</c:v>
                </c:pt>
                <c:pt idx="2">
                  <c:v>Per-workload adapt</c:v>
                </c:pt>
                <c:pt idx="3">
                  <c:v>Reviewability</c:v>
                </c:pt>
                <c:pt idx="4">
                  <c:v>Token/$ cost</c:v>
                </c:pt>
                <c:pt idx="5">
                  <c:v>CI default readiness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2</c:v>
                </c:pt>
                <c:pt idx="2">
                  <c:v>5</c:v>
                </c:pt>
                <c:pt idx="3">
                  <c:v>3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Offline (b)</c:v>
                </c:pt>
              </c:strCache>
            </c:strRef>
          </c:tx>
          <c:spPr>
            <a:solidFill>
              <a:srgbClr val="C47B2C"/>
            </a:solidFill>
          </c:spPr>
          <c:cat>
            <c:strRef>
              <c:f>Sheet1!$A$2:$A$7</c:f>
              <c:strCache>
                <c:ptCount val="6"/>
                <c:pt idx="0">
                  <c:v>Latency sensitivity</c:v>
                </c:pt>
                <c:pt idx="1">
                  <c:v>Ship as C++/ACF</c:v>
                </c:pt>
                <c:pt idx="2">
                  <c:v>Per-workload adapt</c:v>
                </c:pt>
                <c:pt idx="3">
                  <c:v>Reviewability</c:v>
                </c:pt>
                <c:pt idx="4">
                  <c:v>Token/$ cost</c:v>
                </c:pt>
                <c:pt idx="5">
                  <c:v>CI default readiness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5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09728"/>
          </a:xfrm>
          <a:prstGeom prst="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Next-Generation AI Compiler Survey</a:t>
            </a:r>
          </a:p>
          <a:p>
            <a:r>
              <a:rPr sz="1800" b="0">
                <a:solidFill>
                  <a:srgbClr val="B8C4CC"/>
                </a:solidFill>
                <a:latin typeface="Calibri"/>
              </a:rPr>
              <a:t>Agentic compiler prediction · stack reshape · HW–SW codesign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Living survey export · 2026-08-03 · graphs from CLAIMS / ROADMAP / INDEX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North star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Hybrid agent control plane over classical data plane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371600"/>
          </a:xfrm>
          <a:prstGeom prst="round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Agent control plane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(a) online specialize   (b) offline heuristic evolve
(c) oracle engineering / review   (d) ASIC bring-up / codesign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08960"/>
            <a:ext cx="11247120" cy="1188720"/>
          </a:xfrm>
          <a:prstGeom prst="roundRect">
            <a:avLst/>
          </a:prstGeom>
          <a:solidFill>
            <a:srgbClr val="3D4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Classical data plane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Inductor / XLA / MLIR / Triton / Helion / Tile → device libraries
legality · lowering · OpInfo / Alive2 / benchmarks · fallback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572000"/>
            <a:ext cx="11247120" cy="1097280"/>
          </a:xfrm>
          <a:prstGeom prst="roundRect">
            <a:avLst/>
          </a:prstGeom>
          <a:solidFill>
            <a:srgbClr val="C47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HW codesign feedback (not autonomous tape-out)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sim + silicon traces → ISA / dialect / memory-system RFCs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Era timeline — intensity of LLM/agent involvement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Qualitative index 0–5 (survey synthesis, not a benchmark)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Four agent jobs — relative emphasis in Tier A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Share of survey attention across jobs (illustrative weights)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280160"/>
          <a:ext cx="5943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675120" y="1371600"/>
            <a:ext cx="5029200" cy="1005840"/>
          </a:xfrm>
          <a:prstGeom prst="roundRect">
            <a:avLst/>
          </a:prstGeom>
          <a:solidFill>
            <a:srgbClr val="E8EEF0"/>
          </a:solidFill>
          <a:ln>
            <a:solidFill>
              <a:srgbClr val="0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6E6E"/>
                </a:solidFill>
                <a:latin typeface="Calibri"/>
              </a:rPr>
              <a:t>(a) Online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CompileIQ, GEAK, AutoKernel, ACCLAIM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2514600"/>
            <a:ext cx="5029200" cy="1005840"/>
          </a:xfrm>
          <a:prstGeom prst="roundRect">
            <a:avLst/>
          </a:prstGeom>
          <a:solidFill>
            <a:srgbClr val="E8EEF0"/>
          </a:solidFill>
          <a:ln>
            <a:solidFill>
              <a:srgbClr val="0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6E6E"/>
                </a:solidFill>
                <a:latin typeface="Calibri"/>
              </a:rPr>
              <a:t>(b) Offline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Magellan, AlphaEvolve / OpenEvolve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657600"/>
            <a:ext cx="5029200" cy="1005840"/>
          </a:xfrm>
          <a:prstGeom prst="roundRect">
            <a:avLst/>
          </a:prstGeom>
          <a:solidFill>
            <a:srgbClr val="E8EEF0"/>
          </a:solidFill>
          <a:ln>
            <a:solidFill>
              <a:srgbClr val="0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6E6E"/>
                </a:solidFill>
                <a:latin typeface="Calibri"/>
              </a:rPr>
              <a:t>(c) Review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Archer, Alive2 / opt oracles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4800600"/>
            <a:ext cx="5029200" cy="1005840"/>
          </a:xfrm>
          <a:prstGeom prst="roundRect">
            <a:avLst/>
          </a:prstGeom>
          <a:solidFill>
            <a:srgbClr val="E8EEF0"/>
          </a:solidFill>
          <a:ln>
            <a:solidFill>
              <a:srgbClr val="0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6E6E"/>
                </a:solidFill>
                <a:latin typeface="Calibri"/>
              </a:rPr>
              <a:t>(d) Codesign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TritorX, KernelEvolve, Ascend 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Evidence tiers — how sources feed the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Prefer A; B is substrate; C is demoted noise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58368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4A55"/>
                </a:solidFill>
                <a:latin typeface="Calibri"/>
              </a:rPr>
              <a:t>• A — TritorX, KernelEvolve, Magellan, ACCLAIM, GEAK, CompileIQ, Archer, mlirAgent (−)</a:t>
            </a:r>
          </a:p>
          <a:p>
            <a:r>
              <a:rPr sz="1200" b="0">
                <a:solidFill>
                  <a:srgbClr val="3D4A55"/>
                </a:solidFill>
                <a:latin typeface="Calibri"/>
              </a:rPr>
              <a:t>• B — llvm-project, Helion, StableHLO, Triton, PyTorch Inductor</a:t>
            </a:r>
          </a:p>
          <a:p>
            <a:r>
              <a:rPr sz="1200" b="0">
                <a:solidFill>
                  <a:srgbClr val="3D4A55"/>
                </a:solidFill>
                <a:latin typeface="Calibri"/>
              </a:rPr>
              <a:t>• C — generic Gerrit/SCM chat without compiler oracles</a:t>
            </a:r>
          </a:p>
          <a:p>
            <a:r>
              <a:rPr sz="1200" b="0">
                <a:solidFill>
                  <a:srgbClr val="3D4A55"/>
                </a:solidFill>
                <a:latin typeface="Calibri"/>
              </a:rPr>
              <a:t>• Rule: grow A, keep B thin, do not catalog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CLAIMS.md status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Architecture / process / codesign claims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Open conflicts C1–C10 — settlement urgency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Higher = more blocking for 2027–28 roadmap confidence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280160"/>
          <a:ext cx="7498079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46720" y="146304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D4A55"/>
                </a:solidFill>
                <a:latin typeface="Calibri"/>
              </a:rPr>
              <a:t>C1 Magellan vs MLGO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C2 Vendor wins vs benches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C3 Free rewrite vs advisory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C4 Triton vs Tile multi-DSL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C5 Online vs offline agents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C6 Replace vs control plane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C7 Generic vs oracle review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C8 DL compile vs AI-for-LLVM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C9 Coverage vs peak bring-up</a:t>
            </a:r>
          </a:p>
          <a:p>
            <a:r>
              <a:rPr sz="1100" b="0">
                <a:solidFill>
                  <a:srgbClr val="3D4A55"/>
                </a:solidFill>
                <a:latin typeface="Calibri"/>
              </a:rPr>
              <a:t>C10 Codesign vs auto tape-out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Stack layers — agent pressure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Where agentic compile changes the job (0–10)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5-year predicted shifts — confidence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From ROADMAP Horizon B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Bibliography mix — digests by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n=95 digests in publications/INDEX.md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280160"/>
          <a:ext cx="1143000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Source kinds &amp; year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What the living bibliography is made of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1280160"/>
          <a:ext cx="566928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280160"/>
          <a:ext cx="548640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Author-reported headlines (NOT cross-benchmark)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Mechanisms matter more than bars — see CONFLICTS C2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47B2C"/>
                </a:solidFill>
                <a:latin typeface="Calibri"/>
              </a:rPr>
              <a:t>Different suites, hardware, and baselines — do not rank systems from this chart alone.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Online vs offline control (C5)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Both stick; different artifacts and cost models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1188720"/>
          <a:ext cx="640080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D4A55"/>
                </a:solidFill>
                <a:latin typeface="Calibri"/>
              </a:rPr>
              <a:t>• Online artifacts: pass lists, hints, kernels, ACFs, traces</a:t>
            </a:r>
          </a:p>
          <a:p>
            <a:r>
              <a:rPr sz="1300" b="0">
                <a:solidFill>
                  <a:srgbClr val="3D4A55"/>
                </a:solidFill>
                <a:latin typeface="Calibri"/>
              </a:rPr>
              <a:t>• Offline artifacts: evolved heuristics, MLGO features, datasets</a:t>
            </a:r>
          </a:p>
          <a:p>
            <a:r>
              <a:rPr sz="1300" b="0">
                <a:solidFill>
                  <a:srgbClr val="3D4A55"/>
                </a:solidFill>
                <a:latin typeface="Calibri"/>
              </a:rPr>
              <a:t>• Engineering (c) and bring-up (d) span both clocks</a:t>
            </a:r>
          </a:p>
          <a:p>
            <a:r>
              <a:rPr sz="1300" b="0">
                <a:solidFill>
                  <a:srgbClr val="3D4A55"/>
                </a:solidFill>
                <a:latin typeface="Calibri"/>
              </a:rPr>
              <a:t>• Settlement: which shows up as default flag / CI job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Codesign ladder (C9)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Coverage-first then peak-perf — still agentic compiler</a:t>
            </a:r>
          </a:p>
        </p:txBody>
      </p:sp>
      <p:sp>
        <p:nvSpPr>
          <p:cNvPr id="4" name="Chevron 3"/>
          <p:cNvSpPr/>
          <p:nvPr/>
        </p:nvSpPr>
        <p:spPr>
          <a:xfrm>
            <a:off x="365760" y="2286000"/>
            <a:ext cx="2194560" cy="2011680"/>
          </a:xfrm>
          <a:prstGeom prst="chevron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1. Spec / sim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ISA docs + QEMU/
future-device sim</a:t>
            </a:r>
          </a:p>
        </p:txBody>
      </p:sp>
      <p:sp>
        <p:nvSpPr>
          <p:cNvPr id="5" name="Chevron 4"/>
          <p:cNvSpPr/>
          <p:nvPr/>
        </p:nvSpPr>
        <p:spPr>
          <a:xfrm>
            <a:off x="2697479" y="2286000"/>
            <a:ext cx="2194560" cy="2011680"/>
          </a:xfrm>
          <a:prstGeom prst="chevron">
            <a:avLst/>
          </a:prstGeom>
          <a:solidFill>
            <a:srgbClr val="3D4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2. Coverage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TritorX-class
ATen / OpInfo</a:t>
            </a:r>
          </a:p>
        </p:txBody>
      </p:sp>
      <p:sp>
        <p:nvSpPr>
          <p:cNvPr id="6" name="Chevron 5"/>
          <p:cNvSpPr/>
          <p:nvPr/>
        </p:nvSpPr>
        <p:spPr>
          <a:xfrm>
            <a:off x="5029200" y="2286000"/>
            <a:ext cx="2194560" cy="2011680"/>
          </a:xfrm>
          <a:prstGeom prst="chevron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3. Perf search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KernelEvolve /
GEAK / AutoKernel</a:t>
            </a:r>
          </a:p>
        </p:txBody>
      </p:sp>
      <p:sp>
        <p:nvSpPr>
          <p:cNvPr id="7" name="Chevron 6"/>
          <p:cNvSpPr/>
          <p:nvPr/>
        </p:nvSpPr>
        <p:spPr>
          <a:xfrm>
            <a:off x="7360919" y="2286000"/>
            <a:ext cx="2194560" cy="2011680"/>
          </a:xfrm>
          <a:prstGeom prst="chevron">
            <a:avLst/>
          </a:prstGeom>
          <a:solidFill>
            <a:srgbClr val="3D4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4. Serve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e2e latency /
TCO gates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2286000"/>
            <a:ext cx="2194560" cy="2011680"/>
          </a:xfrm>
          <a:prstGeom prst="roundRect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5. Feedback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traces → next
ISA / dialect RFC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D4A55"/>
                </a:solidFill>
                <a:latin typeface="Calibri"/>
              </a:rPr>
              <a:t>C10 stance: agents stress toolchains and file ISA/IR pain; humans + EDA own tape-out. Do not expand this survey into autonomous chip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What would falsify the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From SURVEY §5.3 + ROADMAP non-goals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1097280"/>
          </a:xfrm>
          <a:prstGeom prst="roundRect">
            <a:avLst/>
          </a:prstGeom>
          <a:solidFill>
            <a:srgbClr val="E8EEF0"/>
          </a:solidFill>
          <a:ln>
            <a:solidFill>
              <a:srgbClr val="C4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47B2C"/>
                </a:solidFill>
                <a:latin typeface="Calibri"/>
              </a:rPr>
              <a:t>Default agent lowering</a:t>
            </a:r>
          </a:p>
          <a:p>
            <a:r>
              <a:rPr sz="1200" b="0">
                <a:solidFill>
                  <a:srgbClr val="3D4A55"/>
                </a:solidFill>
                <a:latin typeface="Calibri"/>
              </a:rPr>
              <a:t>A major stack ships default lowering with no classical admit/fallback and sustained correctness.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14600"/>
            <a:ext cx="11247120" cy="1097280"/>
          </a:xfrm>
          <a:prstGeom prst="roundRect">
            <a:avLst/>
          </a:prstGeom>
          <a:solidFill>
            <a:srgbClr val="E8EEF0"/>
          </a:solidFill>
          <a:ln>
            <a:solidFill>
              <a:srgbClr val="C4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47B2C"/>
                </a:solidFill>
                <a:latin typeface="Calibri"/>
              </a:rPr>
              <a:t>Both heuristic paths die</a:t>
            </a:r>
          </a:p>
          <a:p>
            <a:r>
              <a:rPr sz="1200" b="0">
                <a:solidFill>
                  <a:srgbClr val="3D4A55"/>
                </a:solidFill>
                <a:latin typeface="Calibri"/>
              </a:rPr>
              <a:t>Magellan-class synthesis and MLGO advisors both disappear from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11247120" cy="1097280"/>
          </a:xfrm>
          <a:prstGeom prst="roundRect">
            <a:avLst/>
          </a:prstGeom>
          <a:solidFill>
            <a:srgbClr val="E8EEF0"/>
          </a:solidFill>
          <a:ln>
            <a:solidFill>
              <a:srgbClr val="C4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47B2C"/>
                </a:solidFill>
                <a:latin typeface="Calibri"/>
              </a:rPr>
              <a:t>Kernel agents plateau</a:t>
            </a:r>
          </a:p>
          <a:p>
            <a:r>
              <a:rPr sz="1200" b="0">
                <a:solidFill>
                  <a:srgbClr val="3D4A55"/>
                </a:solidFill>
                <a:latin typeface="Calibri"/>
              </a:rPr>
              <a:t>Fusion-heavy public suites stay below eager forever with only library workarounds.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83480"/>
            <a:ext cx="11247120" cy="1097280"/>
          </a:xfrm>
          <a:prstGeom prst="roundRect">
            <a:avLst/>
          </a:prstGeom>
          <a:solidFill>
            <a:srgbClr val="E8EEF0"/>
          </a:solidFill>
          <a:ln>
            <a:solidFill>
              <a:srgbClr val="C4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47B2C"/>
                </a:solidFill>
                <a:latin typeface="Calibri"/>
              </a:rPr>
              <a:t>Autonomous tape-out</a:t>
            </a:r>
          </a:p>
          <a:p>
            <a:r>
              <a:rPr sz="1200" b="0">
                <a:solidFill>
                  <a:srgbClr val="3D4A55"/>
                </a:solidFill>
                <a:latin typeface="Calibri"/>
              </a:rPr>
              <a:t>Production microarch primarily agent-proposed and validated only via agentic compile oracles.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884"/>
                </a:solidFill>
                <a:latin typeface="Calibri"/>
              </a:rPr>
              <a:t>One-page success check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344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41C24"/>
                </a:solidFill>
                <a:latin typeface="Calibri"/>
              </a:rPr>
              <a:t>Predicted architecture: agentic control plane + classical data plane (+ codesign feedback).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0574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41C24"/>
                </a:solidFill>
                <a:latin typeface="Calibri"/>
              </a:rPr>
              <a:t>Four jobs: online · offline heuristics · oracle review · ASIC bring-up/codesign.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880360"/>
            <a:ext cx="502920" cy="50292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803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41C24"/>
                </a:solidFill>
                <a:latin typeface="Calibri"/>
              </a:rPr>
              <a:t>Evidence vs noise: Tier A/B/C — demote generic SCM AI; keep negative results.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7033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41C24"/>
                </a:solidFill>
                <a:latin typeface="Calibri"/>
              </a:rPr>
              <a:t>Conflicts C1–C10 are features: do not average Magellan/MLGO or vendor/bench ceilings.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526280"/>
            <a:ext cx="502920" cy="50292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526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41C24"/>
                </a:solidFill>
                <a:latin typeface="Calibri"/>
              </a:rPr>
              <a:t>Roadmap 2027–28: CI-gated specialize + bring-up ladder; not LLM-as-opt; not auto tape-out.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349240"/>
            <a:ext cx="502920" cy="502920"/>
          </a:xfrm>
          <a:prstGeom prst="ellipse">
            <a:avLst/>
          </a:prstGeom>
          <a:solidFill>
            <a:srgbClr val="0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349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41C24"/>
                </a:solidFill>
                <a:latin typeface="Calibri"/>
              </a:rPr>
              <a:t>Rebuild: python3 publish/build_pdf.py &amp;&amp; python3 publish/build_pptx.py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